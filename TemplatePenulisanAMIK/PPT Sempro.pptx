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77" r:id="rId4"/>
    <p:sldId id="278" r:id="rId5"/>
    <p:sldId id="259" r:id="rId6"/>
    <p:sldId id="279" r:id="rId7"/>
    <p:sldId id="280" r:id="rId8"/>
    <p:sldId id="281" r:id="rId9"/>
    <p:sldId id="282" r:id="rId10"/>
    <p:sldId id="284" r:id="rId11"/>
  </p:sldIdLst>
  <p:sldSz cx="8636000" cy="6483350"/>
  <p:notesSz cx="8636000" cy="64833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1A1D"/>
    <a:srgbClr val="D01518"/>
    <a:srgbClr val="009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65"/>
    <p:restoredTop sz="94333" autoAdjust="0"/>
  </p:normalViewPr>
  <p:slideViewPr>
    <p:cSldViewPr>
      <p:cViewPr varScale="1">
        <p:scale>
          <a:sx n="77" d="100"/>
          <a:sy n="77" d="100"/>
        </p:scale>
        <p:origin x="94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741738" cy="3254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891088" y="0"/>
            <a:ext cx="3743325" cy="3254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3FE55-709C-42E5-BAFA-E6273DD1E60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811213"/>
            <a:ext cx="2914650" cy="218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63600" y="3119438"/>
            <a:ext cx="6908800" cy="25542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157913"/>
            <a:ext cx="3741738" cy="3254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891088" y="6157913"/>
            <a:ext cx="3743325" cy="3254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BC241-1649-4EC1-883C-CEC6D5B58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47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8176" y="2009838"/>
            <a:ext cx="7345997" cy="136150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96352" y="3630676"/>
            <a:ext cx="6049645" cy="16208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10"/>
          </p:nvPr>
        </p:nvSpPr>
        <p:spPr>
          <a:xfrm>
            <a:off x="2938463" y="6029325"/>
            <a:ext cx="2765425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11"/>
          </p:nvPr>
        </p:nvSpPr>
        <p:spPr>
          <a:xfrm>
            <a:off x="431800" y="6029325"/>
            <a:ext cx="19875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29DAAA-7314-4139-92CD-877D3C1410DC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12"/>
          </p:nvPr>
        </p:nvSpPr>
        <p:spPr>
          <a:xfrm>
            <a:off x="6223000" y="6029325"/>
            <a:ext cx="19875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4B8F0D-D981-43D5-8AA6-9A2F52F1F80F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686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122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32117" y="1491170"/>
            <a:ext cx="3759422" cy="427901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450810" y="1491170"/>
            <a:ext cx="3759422" cy="427901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/>
          <p:cNvSpPr>
            <a:spLocks noGrp="1"/>
          </p:cNvSpPr>
          <p:nvPr>
            <p:ph type="ftr" sz="quarter" idx="10"/>
          </p:nvPr>
        </p:nvSpPr>
        <p:spPr>
          <a:xfrm>
            <a:off x="2938463" y="6029325"/>
            <a:ext cx="2765425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5"/>
          <p:cNvSpPr>
            <a:spLocks noGrp="1"/>
          </p:cNvSpPr>
          <p:nvPr>
            <p:ph type="dt" sz="half" idx="11"/>
          </p:nvPr>
        </p:nvSpPr>
        <p:spPr>
          <a:xfrm>
            <a:off x="431800" y="6029325"/>
            <a:ext cx="19875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03A89-B299-42EA-8FC3-841993553A31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7" name="Holder 6"/>
          <p:cNvSpPr>
            <a:spLocks noGrp="1"/>
          </p:cNvSpPr>
          <p:nvPr>
            <p:ph type="sldNum" sz="quarter" idx="12"/>
          </p:nvPr>
        </p:nvSpPr>
        <p:spPr>
          <a:xfrm>
            <a:off x="6223000" y="6029325"/>
            <a:ext cx="19875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D8AB9-6F68-4514-A37E-83245D98A1F4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105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4"/>
          <p:cNvSpPr>
            <a:spLocks noGrp="1"/>
          </p:cNvSpPr>
          <p:nvPr>
            <p:ph type="ftr" sz="quarter" idx="10"/>
          </p:nvPr>
        </p:nvSpPr>
        <p:spPr>
          <a:xfrm>
            <a:off x="2938463" y="6029325"/>
            <a:ext cx="2765425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5"/>
          <p:cNvSpPr>
            <a:spLocks noGrp="1"/>
          </p:cNvSpPr>
          <p:nvPr>
            <p:ph type="dt" sz="half" idx="11"/>
          </p:nvPr>
        </p:nvSpPr>
        <p:spPr>
          <a:xfrm>
            <a:off x="431800" y="6029325"/>
            <a:ext cx="19875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4D90AA-B981-4AE1-9305-C0DAF460CE1E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5" name="Holder 6"/>
          <p:cNvSpPr>
            <a:spLocks noGrp="1"/>
          </p:cNvSpPr>
          <p:nvPr>
            <p:ph type="sldNum" sz="quarter" idx="12"/>
          </p:nvPr>
        </p:nvSpPr>
        <p:spPr>
          <a:xfrm>
            <a:off x="6223000" y="6029325"/>
            <a:ext cx="19875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EBFE5-C9F9-4778-9475-E7A1B3005439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5598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/>
          <p:cNvSpPr>
            <a:spLocks noGrp="1"/>
          </p:cNvSpPr>
          <p:nvPr>
            <p:ph type="ftr" sz="quarter" idx="10"/>
          </p:nvPr>
        </p:nvSpPr>
        <p:spPr>
          <a:xfrm>
            <a:off x="2938463" y="6029325"/>
            <a:ext cx="2765425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5"/>
          <p:cNvSpPr>
            <a:spLocks noGrp="1"/>
          </p:cNvSpPr>
          <p:nvPr>
            <p:ph type="dt" sz="half" idx="11"/>
          </p:nvPr>
        </p:nvSpPr>
        <p:spPr>
          <a:xfrm>
            <a:off x="431800" y="6029325"/>
            <a:ext cx="19875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FA3D9D-73D8-42D6-879E-6545CC2464A3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4" name="Holder 6"/>
          <p:cNvSpPr>
            <a:spLocks noGrp="1"/>
          </p:cNvSpPr>
          <p:nvPr>
            <p:ph type="sldNum" sz="quarter" idx="12"/>
          </p:nvPr>
        </p:nvSpPr>
        <p:spPr>
          <a:xfrm>
            <a:off x="6223000" y="6029325"/>
            <a:ext cx="19875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6B382-F8E8-4DEF-9F5C-262B051EAFC6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4875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Holder 2"/>
          <p:cNvSpPr>
            <a:spLocks noGrp="1"/>
          </p:cNvSpPr>
          <p:nvPr>
            <p:ph type="title"/>
          </p:nvPr>
        </p:nvSpPr>
        <p:spPr bwMode="auto">
          <a:xfrm>
            <a:off x="1687513" y="63500"/>
            <a:ext cx="5267325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 dirty="0"/>
          </a:p>
        </p:txBody>
      </p:sp>
      <p:sp>
        <p:nvSpPr>
          <p:cNvPr id="1029" name="Holder 3"/>
          <p:cNvSpPr>
            <a:spLocks noGrp="1"/>
          </p:cNvSpPr>
          <p:nvPr>
            <p:ph type="body" idx="1"/>
          </p:nvPr>
        </p:nvSpPr>
        <p:spPr bwMode="auto">
          <a:xfrm>
            <a:off x="288925" y="1235075"/>
            <a:ext cx="8064500" cy="395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4C5CDD-BAFA-45B6-9D6D-2B21020E3A1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601" y="63500"/>
            <a:ext cx="1377950" cy="7338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C4F6C8B-294C-47A6-9946-0DFB49C1E5DD}"/>
              </a:ext>
            </a:extLst>
          </p:cNvPr>
          <p:cNvSpPr/>
          <p:nvPr userDrawn="1"/>
        </p:nvSpPr>
        <p:spPr>
          <a:xfrm>
            <a:off x="0" y="-7952"/>
            <a:ext cx="7130774" cy="706452"/>
          </a:xfrm>
          <a:custGeom>
            <a:avLst/>
            <a:gdLst>
              <a:gd name="connsiteX0" fmla="*/ 0 w 6832601"/>
              <a:gd name="connsiteY0" fmla="*/ 0 h 698500"/>
              <a:gd name="connsiteX1" fmla="*/ 6832601 w 6832601"/>
              <a:gd name="connsiteY1" fmla="*/ 0 h 698500"/>
              <a:gd name="connsiteX2" fmla="*/ 6832601 w 6832601"/>
              <a:gd name="connsiteY2" fmla="*/ 698500 h 698500"/>
              <a:gd name="connsiteX3" fmla="*/ 0 w 6832601"/>
              <a:gd name="connsiteY3" fmla="*/ 698500 h 698500"/>
              <a:gd name="connsiteX4" fmla="*/ 0 w 6832601"/>
              <a:gd name="connsiteY4" fmla="*/ 0 h 698500"/>
              <a:gd name="connsiteX0" fmla="*/ 0 w 6832601"/>
              <a:gd name="connsiteY0" fmla="*/ 0 h 698500"/>
              <a:gd name="connsiteX1" fmla="*/ 6832601 w 6832601"/>
              <a:gd name="connsiteY1" fmla="*/ 0 h 698500"/>
              <a:gd name="connsiteX2" fmla="*/ 6832601 w 6832601"/>
              <a:gd name="connsiteY2" fmla="*/ 698500 h 698500"/>
              <a:gd name="connsiteX3" fmla="*/ 0 w 6832601"/>
              <a:gd name="connsiteY3" fmla="*/ 698500 h 698500"/>
              <a:gd name="connsiteX4" fmla="*/ 0 w 6832601"/>
              <a:gd name="connsiteY4" fmla="*/ 0 h 698500"/>
              <a:gd name="connsiteX0" fmla="*/ 0 w 6832601"/>
              <a:gd name="connsiteY0" fmla="*/ 0 h 698500"/>
              <a:gd name="connsiteX1" fmla="*/ 6832601 w 6832601"/>
              <a:gd name="connsiteY1" fmla="*/ 0 h 698500"/>
              <a:gd name="connsiteX2" fmla="*/ 5305951 w 6832601"/>
              <a:gd name="connsiteY2" fmla="*/ 690549 h 698500"/>
              <a:gd name="connsiteX3" fmla="*/ 0 w 6832601"/>
              <a:gd name="connsiteY3" fmla="*/ 698500 h 698500"/>
              <a:gd name="connsiteX4" fmla="*/ 0 w 6832601"/>
              <a:gd name="connsiteY4" fmla="*/ 0 h 698500"/>
              <a:gd name="connsiteX0" fmla="*/ 0 w 6832601"/>
              <a:gd name="connsiteY0" fmla="*/ 0 h 698500"/>
              <a:gd name="connsiteX1" fmla="*/ 6832601 w 6832601"/>
              <a:gd name="connsiteY1" fmla="*/ 0 h 698500"/>
              <a:gd name="connsiteX2" fmla="*/ 5864897 w 6832601"/>
              <a:gd name="connsiteY2" fmla="*/ 698500 h 698500"/>
              <a:gd name="connsiteX3" fmla="*/ 0 w 6832601"/>
              <a:gd name="connsiteY3" fmla="*/ 698500 h 698500"/>
              <a:gd name="connsiteX4" fmla="*/ 0 w 6832601"/>
              <a:gd name="connsiteY4" fmla="*/ 0 h 698500"/>
              <a:gd name="connsiteX0" fmla="*/ 0 w 6683549"/>
              <a:gd name="connsiteY0" fmla="*/ 7952 h 706452"/>
              <a:gd name="connsiteX1" fmla="*/ 6683549 w 6683549"/>
              <a:gd name="connsiteY1" fmla="*/ 0 h 706452"/>
              <a:gd name="connsiteX2" fmla="*/ 5864897 w 6683549"/>
              <a:gd name="connsiteY2" fmla="*/ 706452 h 706452"/>
              <a:gd name="connsiteX3" fmla="*/ 0 w 6683549"/>
              <a:gd name="connsiteY3" fmla="*/ 706452 h 706452"/>
              <a:gd name="connsiteX4" fmla="*/ 0 w 6683549"/>
              <a:gd name="connsiteY4" fmla="*/ 7952 h 706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83549" h="706452">
                <a:moveTo>
                  <a:pt x="0" y="7952"/>
                </a:moveTo>
                <a:lnTo>
                  <a:pt x="6683549" y="0"/>
                </a:lnTo>
                <a:lnTo>
                  <a:pt x="5864897" y="706452"/>
                </a:lnTo>
                <a:lnTo>
                  <a:pt x="0" y="706452"/>
                </a:lnTo>
                <a:lnTo>
                  <a:pt x="0" y="7952"/>
                </a:lnTo>
                <a:close/>
              </a:path>
            </a:pathLst>
          </a:custGeom>
          <a:solidFill>
            <a:srgbClr val="0090D4"/>
          </a:solidFill>
          <a:ln>
            <a:solidFill>
              <a:srgbClr val="0090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object 2"/>
          <p:cNvSpPr>
            <a:spLocks/>
          </p:cNvSpPr>
          <p:nvPr/>
        </p:nvSpPr>
        <p:spPr bwMode="auto">
          <a:xfrm>
            <a:off x="0" y="1944688"/>
            <a:ext cx="4321175" cy="2374900"/>
          </a:xfrm>
          <a:custGeom>
            <a:avLst/>
            <a:gdLst>
              <a:gd name="T0" fmla="*/ 0 w 4321175"/>
              <a:gd name="T1" fmla="*/ 2374900 h 2374900"/>
              <a:gd name="T2" fmla="*/ 4321175 w 4321175"/>
              <a:gd name="T3" fmla="*/ 2374900 h 2374900"/>
              <a:gd name="T4" fmla="*/ 4321175 w 4321175"/>
              <a:gd name="T5" fmla="*/ 0 h 2374900"/>
              <a:gd name="T6" fmla="*/ 0 w 4321175"/>
              <a:gd name="T7" fmla="*/ 0 h 2374900"/>
              <a:gd name="T8" fmla="*/ 0 w 4321175"/>
              <a:gd name="T9" fmla="*/ 2374900 h 23749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21175" h="2374900">
                <a:moveTo>
                  <a:pt x="0" y="2374900"/>
                </a:moveTo>
                <a:lnTo>
                  <a:pt x="4321175" y="2374900"/>
                </a:lnTo>
                <a:lnTo>
                  <a:pt x="4321175" y="0"/>
                </a:lnTo>
                <a:lnTo>
                  <a:pt x="0" y="0"/>
                </a:lnTo>
                <a:lnTo>
                  <a:pt x="0" y="2374900"/>
                </a:lnTo>
                <a:close/>
              </a:path>
            </a:pathLst>
          </a:custGeom>
          <a:solidFill>
            <a:srgbClr val="0090D4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53" name="object 5"/>
          <p:cNvSpPr txBox="1">
            <a:spLocks noChangeArrowheads="1"/>
          </p:cNvSpPr>
          <p:nvPr/>
        </p:nvSpPr>
        <p:spPr bwMode="auto">
          <a:xfrm>
            <a:off x="7470775" y="5876925"/>
            <a:ext cx="83820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SEMPRO  </a:t>
            </a:r>
            <a:b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DIPLOMA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9075" y="4314825"/>
            <a:ext cx="7451725" cy="1822294"/>
          </a:xfrm>
          <a:prstGeom prst="rect">
            <a:avLst/>
          </a:prstGeom>
        </p:spPr>
        <p:txBody>
          <a:bodyPr lIns="0" tIns="9779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1979930" algn="l"/>
              </a:tabLst>
              <a:defRPr/>
            </a:pPr>
            <a:r>
              <a:rPr sz="2800" spc="-5" dirty="0">
                <a:solidFill>
                  <a:srgbClr val="888888"/>
                </a:solidFill>
                <a:latin typeface="Calibri"/>
                <a:cs typeface="Calibri"/>
              </a:rPr>
              <a:t>Nama	</a:t>
            </a:r>
            <a:r>
              <a:rPr lang="en-US" sz="2800" spc="-5" dirty="0">
                <a:solidFill>
                  <a:srgbClr val="888888"/>
                </a:solidFill>
                <a:latin typeface="Calibri"/>
                <a:cs typeface="Calibri"/>
              </a:rPr>
              <a:t> 	</a:t>
            </a:r>
            <a:r>
              <a:rPr sz="2800" spc="-5" dirty="0">
                <a:solidFill>
                  <a:srgbClr val="888888"/>
                </a:solidFill>
                <a:latin typeface="Calibri"/>
                <a:cs typeface="Calibri"/>
              </a:rPr>
              <a:t>:</a:t>
            </a:r>
            <a:r>
              <a:rPr lang="en-US" sz="28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US" sz="2800" spc="-5" dirty="0" err="1">
                <a:solidFill>
                  <a:srgbClr val="888888"/>
                </a:solidFill>
                <a:latin typeface="Calibri"/>
                <a:cs typeface="Calibri"/>
              </a:rPr>
              <a:t>Rizki</a:t>
            </a:r>
            <a:r>
              <a:rPr lang="en-US" sz="28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US" sz="2800" spc="-5" dirty="0" err="1">
                <a:solidFill>
                  <a:srgbClr val="888888"/>
                </a:solidFill>
                <a:latin typeface="Calibri"/>
                <a:cs typeface="Calibri"/>
              </a:rPr>
              <a:t>Mufrizal</a:t>
            </a:r>
            <a:endParaRPr sz="2800" dirty="0">
              <a:latin typeface="Calibri"/>
              <a:cs typeface="Calibri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1922145" algn="l"/>
              </a:tabLst>
              <a:defRPr/>
            </a:pPr>
            <a:r>
              <a:rPr sz="2800" spc="-10" dirty="0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lang="en-US" sz="2800" spc="-10" dirty="0">
                <a:solidFill>
                  <a:srgbClr val="888888"/>
                </a:solidFill>
                <a:latin typeface="Calibri"/>
                <a:cs typeface="Calibri"/>
              </a:rPr>
              <a:t>IM</a:t>
            </a:r>
            <a:r>
              <a:rPr sz="2800" spc="-10" dirty="0">
                <a:solidFill>
                  <a:srgbClr val="888888"/>
                </a:solidFill>
                <a:latin typeface="Calibri"/>
                <a:cs typeface="Calibri"/>
              </a:rPr>
              <a:t>	</a:t>
            </a:r>
            <a:r>
              <a:rPr lang="en-US" sz="2800" spc="-10" dirty="0">
                <a:solidFill>
                  <a:srgbClr val="888888"/>
                </a:solidFill>
                <a:latin typeface="Calibri"/>
                <a:cs typeface="Calibri"/>
              </a:rPr>
              <a:t> 	</a:t>
            </a:r>
            <a:r>
              <a:rPr sz="2800" spc="-5" dirty="0">
                <a:solidFill>
                  <a:srgbClr val="888888"/>
                </a:solidFill>
                <a:latin typeface="Calibri"/>
                <a:cs typeface="Calibri"/>
              </a:rPr>
              <a:t>:</a:t>
            </a:r>
            <a:r>
              <a:rPr lang="en-US" sz="2800" spc="-5" dirty="0">
                <a:solidFill>
                  <a:srgbClr val="888888"/>
                </a:solidFill>
                <a:latin typeface="Calibri"/>
                <a:cs typeface="Calibri"/>
              </a:rPr>
              <a:t> 92316078</a:t>
            </a:r>
            <a:endParaRPr sz="2800" dirty="0">
              <a:latin typeface="Calibri"/>
              <a:cs typeface="Calibri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2065020" algn="l"/>
              </a:tabLst>
              <a:defRPr/>
            </a:pPr>
            <a:r>
              <a:rPr sz="2800" spc="-75" dirty="0" err="1">
                <a:solidFill>
                  <a:srgbClr val="888888"/>
                </a:solidFill>
                <a:latin typeface="Calibri"/>
                <a:cs typeface="Calibri"/>
              </a:rPr>
              <a:t>P</a:t>
            </a:r>
            <a:r>
              <a:rPr sz="2800" spc="-5" dirty="0" err="1">
                <a:solidFill>
                  <a:srgbClr val="888888"/>
                </a:solidFill>
                <a:latin typeface="Calibri"/>
                <a:cs typeface="Calibri"/>
              </a:rPr>
              <a:t>em</a:t>
            </a:r>
            <a:r>
              <a:rPr sz="2800" spc="-15" dirty="0" err="1">
                <a:solidFill>
                  <a:srgbClr val="888888"/>
                </a:solidFill>
                <a:latin typeface="Calibri"/>
                <a:cs typeface="Calibri"/>
              </a:rPr>
              <a:t>b</a:t>
            </a:r>
            <a:r>
              <a:rPr sz="2800" spc="-5" dirty="0" err="1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2800" spc="-15" dirty="0" err="1">
                <a:solidFill>
                  <a:srgbClr val="888888"/>
                </a:solidFill>
                <a:latin typeface="Calibri"/>
                <a:cs typeface="Calibri"/>
              </a:rPr>
              <a:t>m</a:t>
            </a:r>
            <a:r>
              <a:rPr sz="2800" spc="-10" dirty="0" err="1">
                <a:solidFill>
                  <a:srgbClr val="888888"/>
                </a:solidFill>
                <a:latin typeface="Calibri"/>
                <a:cs typeface="Calibri"/>
              </a:rPr>
              <a:t>b</a:t>
            </a:r>
            <a:r>
              <a:rPr sz="2800" spc="-25" dirty="0" err="1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2800" spc="-10" dirty="0" err="1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2800" spc="-5" dirty="0" err="1">
                <a:solidFill>
                  <a:srgbClr val="888888"/>
                </a:solidFill>
                <a:latin typeface="Calibri"/>
                <a:cs typeface="Calibri"/>
              </a:rPr>
              <a:t>g</a:t>
            </a:r>
            <a:r>
              <a:rPr lang="en-US" sz="2800" spc="-5" dirty="0">
                <a:solidFill>
                  <a:srgbClr val="888888"/>
                </a:solidFill>
                <a:latin typeface="Calibri"/>
                <a:cs typeface="Calibri"/>
              </a:rPr>
              <a:t> 1</a:t>
            </a:r>
            <a:r>
              <a:rPr sz="2800" dirty="0">
                <a:solidFill>
                  <a:srgbClr val="888888"/>
                </a:solidFill>
                <a:latin typeface="Calibri"/>
                <a:cs typeface="Calibri"/>
              </a:rPr>
              <a:t>	</a:t>
            </a:r>
            <a:r>
              <a:rPr lang="en-US" sz="2800" dirty="0">
                <a:solidFill>
                  <a:srgbClr val="888888"/>
                </a:solidFill>
                <a:latin typeface="Calibri"/>
                <a:cs typeface="Calibri"/>
              </a:rPr>
              <a:t>	</a:t>
            </a:r>
            <a:r>
              <a:rPr sz="2800" spc="-5" dirty="0">
                <a:solidFill>
                  <a:srgbClr val="888888"/>
                </a:solidFill>
                <a:latin typeface="Calibri"/>
                <a:cs typeface="Calibri"/>
              </a:rPr>
              <a:t>:</a:t>
            </a:r>
            <a:r>
              <a:rPr lang="en-US" sz="2800" spc="-5" dirty="0">
                <a:solidFill>
                  <a:srgbClr val="888888"/>
                </a:solidFill>
                <a:latin typeface="Calibri"/>
                <a:cs typeface="Calibri"/>
              </a:rPr>
              <a:t> Dr. Dina </a:t>
            </a:r>
            <a:r>
              <a:rPr lang="en-US" sz="2800" spc="-5" dirty="0" err="1">
                <a:solidFill>
                  <a:srgbClr val="888888"/>
                </a:solidFill>
                <a:latin typeface="Calibri"/>
                <a:cs typeface="Calibri"/>
              </a:rPr>
              <a:t>Indarti</a:t>
            </a:r>
            <a:r>
              <a:rPr lang="en-US" sz="2800" spc="-5" dirty="0">
                <a:solidFill>
                  <a:srgbClr val="888888"/>
                </a:solidFill>
                <a:latin typeface="Calibri"/>
                <a:cs typeface="Calibri"/>
              </a:rPr>
              <a:t>, </a:t>
            </a:r>
            <a:r>
              <a:rPr lang="en-US" sz="2800" spc="-5" dirty="0" err="1">
                <a:solidFill>
                  <a:srgbClr val="888888"/>
                </a:solidFill>
                <a:latin typeface="Calibri"/>
                <a:cs typeface="Calibri"/>
              </a:rPr>
              <a:t>S.Si</a:t>
            </a:r>
            <a:r>
              <a:rPr lang="en-US" sz="2800" spc="-5" dirty="0">
                <a:solidFill>
                  <a:srgbClr val="888888"/>
                </a:solidFill>
                <a:latin typeface="Calibri"/>
                <a:cs typeface="Calibri"/>
              </a:rPr>
              <a:t>, </a:t>
            </a:r>
            <a:r>
              <a:rPr lang="en-US" sz="2800" spc="-5" dirty="0" err="1">
                <a:solidFill>
                  <a:srgbClr val="888888"/>
                </a:solidFill>
                <a:latin typeface="Calibri"/>
                <a:cs typeface="Calibri"/>
              </a:rPr>
              <a:t>M.Si</a:t>
            </a:r>
            <a:br>
              <a:rPr lang="en-US" sz="2800" spc="-5" dirty="0">
                <a:solidFill>
                  <a:srgbClr val="888888"/>
                </a:solidFill>
                <a:latin typeface="Calibri"/>
                <a:cs typeface="Calibri"/>
              </a:rPr>
            </a:br>
            <a:r>
              <a:rPr lang="en-US" sz="2800" spc="-5" dirty="0" err="1">
                <a:solidFill>
                  <a:srgbClr val="888888"/>
                </a:solidFill>
                <a:latin typeface="Calibri"/>
                <a:cs typeface="Calibri"/>
              </a:rPr>
              <a:t>Pembimbing</a:t>
            </a:r>
            <a:r>
              <a:rPr lang="en-US" sz="2800" spc="-5" dirty="0">
                <a:solidFill>
                  <a:srgbClr val="888888"/>
                </a:solidFill>
                <a:latin typeface="Calibri"/>
                <a:cs typeface="Calibri"/>
              </a:rPr>
              <a:t> 2	: Prof </a:t>
            </a:r>
            <a:r>
              <a:rPr lang="en-US" sz="2800" spc="-5" dirty="0" err="1">
                <a:solidFill>
                  <a:srgbClr val="888888"/>
                </a:solidFill>
                <a:latin typeface="Calibri"/>
                <a:cs typeface="Calibri"/>
              </a:rPr>
              <a:t>Adang</a:t>
            </a:r>
            <a:r>
              <a:rPr lang="en-US" sz="28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US" sz="2800" spc="-5" dirty="0" err="1">
                <a:solidFill>
                  <a:srgbClr val="888888"/>
                </a:solidFill>
                <a:latin typeface="Calibri"/>
                <a:cs typeface="Calibri"/>
              </a:rPr>
              <a:t>Suhendra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8A578C-45BD-B346-8D4F-51FCD5A76DF1}"/>
              </a:ext>
            </a:extLst>
          </p:cNvPr>
          <p:cNvSpPr txBox="1">
            <a:spLocks/>
          </p:cNvSpPr>
          <p:nvPr/>
        </p:nvSpPr>
        <p:spPr>
          <a:xfrm>
            <a:off x="238125" y="2251075"/>
            <a:ext cx="4081463" cy="153888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2000" b="1" kern="0" dirty="0"/>
              <a:t>Refactoring </a:t>
            </a:r>
            <a:r>
              <a:rPr lang="en-US" altLang="en-US" sz="2000" b="1" kern="0" dirty="0" err="1"/>
              <a:t>Arsitektur</a:t>
            </a:r>
            <a:r>
              <a:rPr lang="en-US" altLang="en-US" sz="2000" b="1" kern="0" dirty="0"/>
              <a:t> Microservice </a:t>
            </a:r>
            <a:r>
              <a:rPr lang="en-US" altLang="en-US" sz="2000" b="1" kern="0" dirty="0" err="1"/>
              <a:t>Dengan</a:t>
            </a:r>
            <a:r>
              <a:rPr lang="en-US" altLang="en-US" sz="2000" b="1" kern="0" dirty="0"/>
              <a:t> </a:t>
            </a:r>
            <a:r>
              <a:rPr lang="en-US" altLang="en-US" sz="2000" b="1" kern="0" dirty="0" err="1"/>
              <a:t>Metode</a:t>
            </a:r>
            <a:r>
              <a:rPr lang="en-US" altLang="en-US" sz="2000" b="1" kern="0" dirty="0"/>
              <a:t> Microservices Migration Patterns Dan </a:t>
            </a:r>
            <a:r>
              <a:rPr lang="en-US" altLang="en-US" sz="2000" b="1" kern="0" dirty="0" err="1"/>
              <a:t>Strategi</a:t>
            </a:r>
            <a:r>
              <a:rPr lang="en-US" altLang="en-US" sz="2000" b="1" kern="0" dirty="0"/>
              <a:t> Strangler Pattern </a:t>
            </a:r>
            <a:r>
              <a:rPr lang="en-US" altLang="en-US" sz="2000" b="1" kern="0" dirty="0" err="1"/>
              <a:t>Pada</a:t>
            </a:r>
            <a:r>
              <a:rPr lang="en-US" altLang="en-US" sz="2000" b="1" kern="0" dirty="0"/>
              <a:t> </a:t>
            </a:r>
            <a:r>
              <a:rPr lang="en-US" altLang="en-US" sz="2000" b="1" kern="0" dirty="0" err="1"/>
              <a:t>Aplikasi</a:t>
            </a:r>
            <a:r>
              <a:rPr lang="en-US" altLang="en-US" sz="2000" b="1" kern="0" dirty="0"/>
              <a:t> </a:t>
            </a:r>
            <a:r>
              <a:rPr lang="en-US" altLang="en-US" sz="2000" b="1" kern="0" dirty="0" err="1"/>
              <a:t>Absensi</a:t>
            </a:r>
            <a:r>
              <a:rPr lang="en-US" altLang="en-US" sz="2000" b="1" kern="0" dirty="0"/>
              <a:t> PT. </a:t>
            </a:r>
            <a:r>
              <a:rPr lang="en-US" altLang="en-US" sz="2000" b="1" kern="0" dirty="0" err="1"/>
              <a:t>Graha</a:t>
            </a:r>
            <a:r>
              <a:rPr lang="en-US" altLang="en-US" sz="2000" b="1" kern="0" dirty="0"/>
              <a:t> Usaha Teknik</a:t>
            </a:r>
            <a:endParaRPr lang="en-US" altLang="en-US" sz="2000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7996C0-1832-425D-B91D-456BBEB407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360893"/>
            <a:ext cx="2513918" cy="1338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6FDF27-6E16-4B6A-8AA0-EB61994C42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261" y="5876924"/>
            <a:ext cx="371514" cy="443712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8D3D853-4410-485A-A7EA-C655245B9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0" y="1944688"/>
            <a:ext cx="4318000" cy="238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41275"/>
            <a:ext cx="4953000" cy="628650"/>
          </a:xfrm>
        </p:spPr>
        <p:txBody>
          <a:bodyPr tIns="12065" rtlCol="0"/>
          <a:lstStyle/>
          <a:p>
            <a:pPr marL="12700" eaLnBrk="1" fontAlgn="auto" hangingPunct="1">
              <a:spcBef>
                <a:spcPts val="95"/>
              </a:spcBef>
              <a:spcAft>
                <a:spcPts val="0"/>
              </a:spcAft>
              <a:defRPr/>
            </a:pPr>
            <a:r>
              <a:rPr lang="en-US" spc="-5" dirty="0" err="1"/>
              <a:t>Latar</a:t>
            </a:r>
            <a:r>
              <a:rPr lang="en-US" spc="-5" dirty="0"/>
              <a:t> </a:t>
            </a:r>
            <a:r>
              <a:rPr lang="en-US" spc="-5" dirty="0" err="1"/>
              <a:t>Belakang</a:t>
            </a:r>
            <a:endParaRPr spc="-5" dirty="0"/>
          </a:p>
        </p:txBody>
      </p:sp>
      <p:sp>
        <p:nvSpPr>
          <p:cNvPr id="4099" name="object 3"/>
          <p:cNvSpPr txBox="1">
            <a:spLocks noChangeArrowheads="1"/>
          </p:cNvSpPr>
          <p:nvPr/>
        </p:nvSpPr>
        <p:spPr bwMode="auto">
          <a:xfrm>
            <a:off x="355600" y="879475"/>
            <a:ext cx="7292975" cy="4693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298450" indent="-285750"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ts val="100"/>
              </a:spcBef>
              <a:buFont typeface="Wingdings" panose="05000000000000000000" pitchFamily="2" charset="2"/>
              <a:buChar char=""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Peningkatan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sangat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berpengaruh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kinerja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dibangun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monolithic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spcBef>
                <a:spcPts val="100"/>
              </a:spcBef>
              <a:buFont typeface="Wingdings" panose="05000000000000000000" pitchFamily="2" charset="2"/>
              <a:buChar char=""/>
            </a:pPr>
            <a:r>
              <a:rPr lang="sv-SE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Resilient</a:t>
            </a:r>
            <a:r>
              <a:rPr lang="sv-SE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sv-SE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merupakan salah satu contoh kompleksitas pemeliharaan pada aplikasi dengan arsitektur </a:t>
            </a:r>
            <a:r>
              <a:rPr lang="sv-SE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monolithic</a:t>
            </a:r>
            <a:r>
              <a:rPr lang="sv-SE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spcBef>
                <a:spcPts val="100"/>
              </a:spcBef>
              <a:buFont typeface="Wingdings" panose="05000000000000000000" pitchFamily="2" charset="2"/>
              <a:buChar char=""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mengembangkan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memperbaiki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monolithic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adanya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pemisahan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servis-servis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kecil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100"/>
              </a:spcBef>
              <a:buFont typeface="Wingdings" panose="05000000000000000000" pitchFamily="2" charset="2"/>
              <a:buChar char="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PT.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Graha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Usaha Teknik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mengembangkan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absensi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monolithic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spcBef>
                <a:spcPts val="100"/>
              </a:spcBef>
              <a:buFont typeface="Wingdings" panose="05000000000000000000" pitchFamily="2" charset="2"/>
              <a:buChar char=""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dikembangkan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semakin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bertambah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trafik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diproses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semakin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100"/>
              </a:spcBef>
              <a:buFont typeface="Wingdings" panose="05000000000000000000" pitchFamily="2" charset="2"/>
              <a:buChar char="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Refactoring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monolithic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PT.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Graha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Usaha Teknik,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migration patterns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strangler pattern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101600"/>
            <a:ext cx="4953000" cy="628650"/>
          </a:xfrm>
        </p:spPr>
        <p:txBody>
          <a:bodyPr tIns="12065" rtlCol="0"/>
          <a:lstStyle/>
          <a:p>
            <a:pPr marL="12700" eaLnBrk="1" fontAlgn="auto" hangingPunct="1">
              <a:spcBef>
                <a:spcPts val="95"/>
              </a:spcBef>
              <a:spcAft>
                <a:spcPts val="0"/>
              </a:spcAft>
              <a:defRPr/>
            </a:pPr>
            <a:r>
              <a:rPr lang="en-US" spc="-5" dirty="0" err="1"/>
              <a:t>Batasan</a:t>
            </a:r>
            <a:r>
              <a:rPr lang="en-US" spc="-5" dirty="0"/>
              <a:t> </a:t>
            </a:r>
            <a:r>
              <a:rPr lang="en-US" spc="-5" dirty="0" err="1"/>
              <a:t>Masalah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36563" y="1109663"/>
            <a:ext cx="7292975" cy="2192908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299085" indent="-287020" algn="just" eaLnBrk="1" fontAlgn="auto" hangingPunct="1">
              <a:spcBef>
                <a:spcPts val="100"/>
              </a:spcBef>
              <a:spcAft>
                <a:spcPts val="0"/>
              </a:spcAft>
              <a:buFont typeface="Wingdings"/>
              <a:buChar char=""/>
              <a:tabLst>
                <a:tab pos="299720" algn="l"/>
              </a:tabLst>
              <a:defRPr/>
            </a:pPr>
            <a:r>
              <a:rPr lang="en-US" sz="2000" dirty="0">
                <a:latin typeface="Times New Roman"/>
                <a:cs typeface="Times New Roman"/>
              </a:rPr>
              <a:t>Proses </a:t>
            </a:r>
            <a:r>
              <a:rPr lang="en-US" sz="2000" i="1" dirty="0">
                <a:latin typeface="Times New Roman"/>
                <a:cs typeface="Times New Roman"/>
              </a:rPr>
              <a:t>refactoring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arsitektur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i="1" dirty="0">
                <a:latin typeface="Times New Roman"/>
                <a:cs typeface="Times New Roman"/>
              </a:rPr>
              <a:t>monolithic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menjadi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arsitektur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i="1" dirty="0">
                <a:latin typeface="Times New Roman"/>
                <a:cs typeface="Times New Roman"/>
              </a:rPr>
              <a:t>microservice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dilakukan</a:t>
            </a:r>
            <a:r>
              <a:rPr lang="en-US" sz="2000" dirty="0">
                <a:latin typeface="Times New Roman"/>
                <a:cs typeface="Times New Roman"/>
              </a:rPr>
              <a:t> pada </a:t>
            </a:r>
            <a:r>
              <a:rPr lang="en-US" sz="2000" dirty="0" err="1">
                <a:latin typeface="Times New Roman"/>
                <a:cs typeface="Times New Roman"/>
              </a:rPr>
              <a:t>aplikasi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absensi</a:t>
            </a:r>
            <a:r>
              <a:rPr lang="en-US" sz="2000" dirty="0">
                <a:latin typeface="Times New Roman"/>
                <a:cs typeface="Times New Roman"/>
              </a:rPr>
              <a:t> PT. </a:t>
            </a:r>
            <a:r>
              <a:rPr lang="en-US" sz="2000" dirty="0" err="1">
                <a:latin typeface="Times New Roman"/>
                <a:cs typeface="Times New Roman"/>
              </a:rPr>
              <a:t>Graha</a:t>
            </a:r>
            <a:r>
              <a:rPr lang="en-US" sz="2000" dirty="0">
                <a:latin typeface="Times New Roman"/>
                <a:cs typeface="Times New Roman"/>
              </a:rPr>
              <a:t> Usaha Teknik.</a:t>
            </a:r>
          </a:p>
          <a:p>
            <a:pPr marL="12065" algn="just" eaLnBrk="1" fontAlgn="auto" hangingPunct="1">
              <a:spcBef>
                <a:spcPts val="100"/>
              </a:spcBef>
              <a:spcAft>
                <a:spcPts val="0"/>
              </a:spcAft>
              <a:tabLst>
                <a:tab pos="299720" algn="l"/>
              </a:tabLst>
              <a:defRPr/>
            </a:pPr>
            <a:endParaRPr lang="en-US" sz="2000" dirty="0">
              <a:latin typeface="Times New Roman"/>
              <a:cs typeface="Times New Roman"/>
            </a:endParaRPr>
          </a:p>
          <a:p>
            <a:pPr marL="299085" indent="-287020" algn="just" eaLnBrk="1" fontAlgn="auto" hangingPunct="1">
              <a:spcBef>
                <a:spcPts val="100"/>
              </a:spcBef>
              <a:spcAft>
                <a:spcPts val="0"/>
              </a:spcAft>
              <a:buFont typeface="Wingdings"/>
              <a:buChar char=""/>
              <a:tabLst>
                <a:tab pos="299720" algn="l"/>
              </a:tabLst>
              <a:defRPr/>
            </a:pPr>
            <a:r>
              <a:rPr lang="en-US" sz="2000" i="1" dirty="0">
                <a:latin typeface="Times New Roman"/>
                <a:cs typeface="Times New Roman"/>
              </a:rPr>
              <a:t>Refactoring</a:t>
            </a:r>
            <a:r>
              <a:rPr lang="en-US" sz="2000" dirty="0">
                <a:latin typeface="Times New Roman"/>
                <a:cs typeface="Times New Roman"/>
              </a:rPr>
              <a:t> yang </a:t>
            </a:r>
            <a:r>
              <a:rPr lang="en-US" sz="2000" dirty="0" err="1">
                <a:latin typeface="Times New Roman"/>
                <a:cs typeface="Times New Roman"/>
              </a:rPr>
              <a:t>dilakukan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pada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penelitian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ini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hanya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dilakukan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pada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tujuh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servis</a:t>
            </a:r>
            <a:r>
              <a:rPr lang="en-US" sz="2000" dirty="0">
                <a:latin typeface="Times New Roman"/>
                <a:cs typeface="Times New Roman"/>
              </a:rPr>
              <a:t> yang </a:t>
            </a:r>
            <a:r>
              <a:rPr lang="en-US" sz="2000" dirty="0" err="1">
                <a:latin typeface="Times New Roman"/>
                <a:cs typeface="Times New Roman"/>
              </a:rPr>
              <a:t>terdapat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pada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aplikasi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absensi</a:t>
            </a:r>
            <a:r>
              <a:rPr lang="en-US" sz="2000" dirty="0">
                <a:latin typeface="Times New Roman"/>
                <a:cs typeface="Times New Roman"/>
              </a:rPr>
              <a:t> PT. </a:t>
            </a:r>
            <a:r>
              <a:rPr lang="en-US" sz="2000" dirty="0" err="1">
                <a:latin typeface="Times New Roman"/>
                <a:cs typeface="Times New Roman"/>
              </a:rPr>
              <a:t>Graha</a:t>
            </a:r>
            <a:r>
              <a:rPr lang="en-US" sz="2000" dirty="0">
                <a:latin typeface="Times New Roman"/>
                <a:cs typeface="Times New Roman"/>
              </a:rPr>
              <a:t> Usaha Teknik.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101600"/>
            <a:ext cx="4953000" cy="628650"/>
          </a:xfrm>
        </p:spPr>
        <p:txBody>
          <a:bodyPr tIns="12065" rtlCol="0"/>
          <a:lstStyle/>
          <a:p>
            <a:pPr marL="12700" eaLnBrk="1" fontAlgn="auto" hangingPunct="1">
              <a:spcBef>
                <a:spcPts val="95"/>
              </a:spcBef>
              <a:spcAft>
                <a:spcPts val="0"/>
              </a:spcAft>
              <a:defRPr/>
            </a:pPr>
            <a:r>
              <a:rPr lang="en-US" spc="-5" dirty="0" err="1"/>
              <a:t>Rumusan</a:t>
            </a:r>
            <a:r>
              <a:rPr lang="en-US" spc="-5" dirty="0"/>
              <a:t> </a:t>
            </a:r>
            <a:r>
              <a:rPr lang="en-US" spc="-5" dirty="0" err="1"/>
              <a:t>Masalah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36563" y="1109663"/>
            <a:ext cx="7292975" cy="628377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065" eaLnBrk="1" fontAlgn="auto" hangingPunct="1">
              <a:spcBef>
                <a:spcPts val="100"/>
              </a:spcBef>
              <a:spcAft>
                <a:spcPts val="0"/>
              </a:spcAft>
              <a:tabLst>
                <a:tab pos="299720" algn="l"/>
              </a:tabLst>
              <a:defRPr/>
            </a:pPr>
            <a:r>
              <a:rPr lang="en-US" sz="2000" dirty="0" err="1">
                <a:latin typeface="Times New Roman"/>
                <a:cs typeface="Times New Roman"/>
              </a:rPr>
              <a:t>Bagaimana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melakukan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i="1" dirty="0">
                <a:latin typeface="Times New Roman"/>
                <a:cs typeface="Times New Roman"/>
              </a:rPr>
              <a:t>refactoring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arsitektur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i="1" dirty="0">
                <a:latin typeface="Times New Roman"/>
                <a:cs typeface="Times New Roman"/>
              </a:rPr>
              <a:t>monolithic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menjadi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arsitektur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i="1" dirty="0">
                <a:latin typeface="Times New Roman"/>
                <a:cs typeface="Times New Roman"/>
              </a:rPr>
              <a:t>microservice</a:t>
            </a:r>
            <a:r>
              <a:rPr lang="en-US" sz="2000" dirty="0">
                <a:latin typeface="Times New Roman"/>
                <a:cs typeface="Times New Roman"/>
              </a:rPr>
              <a:t> pada </a:t>
            </a:r>
            <a:r>
              <a:rPr lang="en-US" sz="2000" dirty="0" err="1">
                <a:latin typeface="Times New Roman"/>
                <a:cs typeface="Times New Roman"/>
              </a:rPr>
              <a:t>aplikasi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absensi</a:t>
            </a:r>
            <a:r>
              <a:rPr lang="en-US" sz="2000" dirty="0">
                <a:latin typeface="Times New Roman"/>
                <a:cs typeface="Times New Roman"/>
              </a:rPr>
              <a:t> PT. </a:t>
            </a:r>
            <a:r>
              <a:rPr lang="en-US" sz="2000" dirty="0" err="1">
                <a:latin typeface="Times New Roman"/>
                <a:cs typeface="Times New Roman"/>
              </a:rPr>
              <a:t>Graha</a:t>
            </a:r>
            <a:r>
              <a:rPr lang="en-US" sz="2000" dirty="0">
                <a:latin typeface="Times New Roman"/>
                <a:cs typeface="Times New Roman"/>
              </a:rPr>
              <a:t> Usaha Teknik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000" y="117475"/>
            <a:ext cx="4325938" cy="627063"/>
          </a:xfrm>
        </p:spPr>
        <p:txBody>
          <a:bodyPr tIns="12065" rtlCol="0"/>
          <a:lstStyle/>
          <a:p>
            <a:pPr marL="12700" eaLnBrk="1" fontAlgn="auto" hangingPunct="1">
              <a:spcBef>
                <a:spcPts val="95"/>
              </a:spcBef>
              <a:spcAft>
                <a:spcPts val="0"/>
              </a:spcAft>
              <a:defRPr/>
            </a:pPr>
            <a:r>
              <a:rPr lang="en-US" spc="-5" dirty="0" err="1"/>
              <a:t>Tujuan</a:t>
            </a:r>
            <a:r>
              <a:rPr lang="en-US" spc="-5" dirty="0"/>
              <a:t> </a:t>
            </a:r>
            <a:r>
              <a:rPr lang="en-US" spc="-5" dirty="0" err="1"/>
              <a:t>Penelitian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36563" y="900113"/>
            <a:ext cx="7421562" cy="1552348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algn="just"/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bertujuan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refactoring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monolithic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absensi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PT.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Graha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Usaha Teknik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menerapkan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13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tahapan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refactoring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strangler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pattern.</a:t>
            </a:r>
            <a:endParaRPr lang="en-ID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000" y="117475"/>
            <a:ext cx="4325938" cy="627063"/>
          </a:xfrm>
        </p:spPr>
        <p:txBody>
          <a:bodyPr tIns="12065" rtlCol="0"/>
          <a:lstStyle/>
          <a:p>
            <a:pPr marL="12700" eaLnBrk="1" fontAlgn="auto" hangingPunct="1">
              <a:spcBef>
                <a:spcPts val="95"/>
              </a:spcBef>
              <a:spcAft>
                <a:spcPts val="0"/>
              </a:spcAft>
              <a:defRPr/>
            </a:pPr>
            <a:r>
              <a:rPr lang="en-US" spc="-5" dirty="0" err="1"/>
              <a:t>Manfaat</a:t>
            </a:r>
            <a:r>
              <a:rPr lang="en-US" spc="-5" dirty="0"/>
              <a:t> </a:t>
            </a:r>
            <a:r>
              <a:rPr lang="en-US" spc="-5" dirty="0" err="1"/>
              <a:t>Penelitian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36563" y="900113"/>
            <a:ext cx="7421562" cy="2167901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algn="just"/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memecahkan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monolithic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refactoring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monolithic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13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tahap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refactoring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strangler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menyelesaikan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sulitnya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pemeliharaan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pembaruan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menurunnya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kinerja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000" y="117476"/>
            <a:ext cx="4648200" cy="685800"/>
          </a:xfrm>
        </p:spPr>
        <p:txBody>
          <a:bodyPr tIns="12065" rtlCol="0"/>
          <a:lstStyle/>
          <a:p>
            <a:pPr marL="12700" eaLnBrk="1" fontAlgn="auto" hangingPunct="1">
              <a:spcBef>
                <a:spcPts val="95"/>
              </a:spcBef>
              <a:spcAft>
                <a:spcPts val="0"/>
              </a:spcAft>
              <a:defRPr/>
            </a:pPr>
            <a:r>
              <a:rPr lang="en-US" spc="-5" dirty="0" err="1"/>
              <a:t>Metodologi</a:t>
            </a:r>
            <a:r>
              <a:rPr lang="en-US" spc="-5" dirty="0"/>
              <a:t> </a:t>
            </a:r>
            <a:r>
              <a:rPr lang="en-US" spc="-5" dirty="0" err="1"/>
              <a:t>Penelitian</a:t>
            </a:r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352916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000" y="117476"/>
            <a:ext cx="4648200" cy="627736"/>
          </a:xfrm>
        </p:spPr>
        <p:txBody>
          <a:bodyPr tIns="12065" rtlCol="0"/>
          <a:lstStyle/>
          <a:p>
            <a:pPr marL="12700" eaLnBrk="1" fontAlgn="auto" hangingPunct="1">
              <a:spcBef>
                <a:spcPts val="95"/>
              </a:spcBef>
              <a:spcAft>
                <a:spcPts val="0"/>
              </a:spcAft>
              <a:defRPr/>
            </a:pPr>
            <a:r>
              <a:rPr lang="en-US" spc="-5" dirty="0" err="1"/>
              <a:t>Analisis</a:t>
            </a:r>
            <a:r>
              <a:rPr lang="en-US" spc="-5" dirty="0"/>
              <a:t> </a:t>
            </a:r>
            <a:r>
              <a:rPr lang="en-US" spc="-5" dirty="0" err="1"/>
              <a:t>Kebutuhan</a:t>
            </a:r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26854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000" y="117476"/>
            <a:ext cx="4648200" cy="627736"/>
          </a:xfrm>
        </p:spPr>
        <p:txBody>
          <a:bodyPr tIns="12065" rtlCol="0"/>
          <a:lstStyle/>
          <a:p>
            <a:pPr marL="12700" eaLnBrk="1" fontAlgn="auto" hangingPunct="1">
              <a:spcBef>
                <a:spcPts val="95"/>
              </a:spcBef>
              <a:spcAft>
                <a:spcPts val="0"/>
              </a:spcAft>
              <a:defRPr/>
            </a:pPr>
            <a:r>
              <a:rPr lang="en-US" spc="-5" dirty="0" err="1"/>
              <a:t>Perancangan</a:t>
            </a:r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231747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6E272-A02E-4106-B742-DB40DD265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000" y="2784475"/>
            <a:ext cx="8064500" cy="738664"/>
          </a:xfrm>
        </p:spPr>
        <p:txBody>
          <a:bodyPr/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TERIMA KASIH</a:t>
            </a:r>
            <a:endParaRPr lang="en-ID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535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2046</TotalTime>
  <Words>321</Words>
  <Application>Microsoft Office PowerPoint</Application>
  <PresentationFormat>Custom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Times New Roman</vt:lpstr>
      <vt:lpstr>Wingdings</vt:lpstr>
      <vt:lpstr>Office Theme</vt:lpstr>
      <vt:lpstr>PowerPoint Presentation</vt:lpstr>
      <vt:lpstr>Latar Belakang</vt:lpstr>
      <vt:lpstr>Batasan Masalah</vt:lpstr>
      <vt:lpstr>Rumusan Masalah</vt:lpstr>
      <vt:lpstr>Tujuan Penelitian</vt:lpstr>
      <vt:lpstr>Manfaat Penelitian</vt:lpstr>
      <vt:lpstr>Metodologi Penelitian</vt:lpstr>
      <vt:lpstr>Analisis Kebutuhan</vt:lpstr>
      <vt:lpstr>Perancangan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Colloqium Tesis</dc:title>
  <dc:subject>SBK MMSI</dc:subject>
  <dc:creator>DTE/yh/b</dc:creator>
  <cp:lastModifiedBy>Rizki Mufrizal</cp:lastModifiedBy>
  <cp:revision>204</cp:revision>
  <dcterms:created xsi:type="dcterms:W3CDTF">2019-01-07T09:14:46Z</dcterms:created>
  <dcterms:modified xsi:type="dcterms:W3CDTF">2026-01-12T03:29:50Z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2014-10-28T00:00:00Z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2019-01-07T00:00:00Z</vt:filetime>
  </property>
</Properties>
</file>